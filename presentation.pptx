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Poppins" panose="00000500000000000000" pitchFamily="2" charset="0"/>
      <p:regular r:id="rId8"/>
    </p:embeddedFont>
    <p:embeddedFont>
      <p:font typeface="Poppins Bold" panose="00000800000000000000" charset="0"/>
      <p:regular r:id="rId9"/>
    </p:embeddedFont>
    <p:embeddedFont>
      <p:font typeface="Poppins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9080"/>
    <a:srgbClr val="FFFFFF"/>
    <a:srgbClr val="C58B7B"/>
    <a:srgbClr val="213F3E"/>
    <a:srgbClr val="315C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8761CE-BF4F-49E6-915C-6CF084AB687E}" type="datetimeFigureOut">
              <a:rPr lang="sv-SE" smtClean="0"/>
              <a:t>2026-09-23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9D6C0-3477-45AF-8CC8-7076AE59A0C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6246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9D6C0-3477-45AF-8CC8-7076AE59A0C9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40701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7">
            <a:extLst>
              <a:ext uri="{FF2B5EF4-FFF2-40B4-BE49-F238E27FC236}">
                <a16:creationId xmlns:a16="http://schemas.microsoft.com/office/drawing/2014/main" id="{A9493FA3-E94A-BB57-B856-F5F3D114F570}"/>
              </a:ext>
            </a:extLst>
          </p:cNvPr>
          <p:cNvSpPr/>
          <p:nvPr/>
        </p:nvSpPr>
        <p:spPr>
          <a:xfrm>
            <a:off x="10287000" y="6886145"/>
            <a:ext cx="6305188" cy="2617787"/>
          </a:xfrm>
          <a:custGeom>
            <a:avLst/>
            <a:gdLst/>
            <a:ahLst/>
            <a:cxnLst/>
            <a:rect l="l" t="t" r="r" b="b"/>
            <a:pathLst>
              <a:path w="2377656" h="987125">
                <a:moveTo>
                  <a:pt x="2377656" y="0"/>
                </a:moveTo>
                <a:lnTo>
                  <a:pt x="2377656" y="987125"/>
                </a:lnTo>
                <a:lnTo>
                  <a:pt x="0" y="987125"/>
                </a:lnTo>
                <a:lnTo>
                  <a:pt x="0" y="0"/>
                </a:lnTo>
                <a:close/>
              </a:path>
            </a:pathLst>
          </a:custGeom>
          <a:solidFill>
            <a:srgbClr val="213F3E">
              <a:alpha val="57000"/>
            </a:srgbClr>
          </a:solidFill>
        </p:spPr>
        <p:txBody>
          <a:bodyPr/>
          <a:lstStyle/>
          <a:p>
            <a:endParaRPr lang="sv-SE"/>
          </a:p>
        </p:txBody>
      </p:sp>
      <p:sp>
        <p:nvSpPr>
          <p:cNvPr id="2" name="TextBox 2"/>
          <p:cNvSpPr txBox="1"/>
          <p:nvPr/>
        </p:nvSpPr>
        <p:spPr>
          <a:xfrm>
            <a:off x="236294" y="1362075"/>
            <a:ext cx="13764810" cy="3530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9"/>
              </a:lnSpc>
            </a:pPr>
            <a:r>
              <a:rPr lang="en-US" sz="11574" b="1" spc="-1203">
                <a:solidFill>
                  <a:srgbClr val="D0B09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AUTOMATISERAD RAPPORTGENERERING </a:t>
            </a:r>
          </a:p>
          <a:p>
            <a:pPr algn="l">
              <a:lnSpc>
                <a:spcPts val="7740"/>
              </a:lnSpc>
            </a:pPr>
            <a:r>
              <a:rPr lang="en-US" sz="9675" b="1" spc="-1006">
                <a:solidFill>
                  <a:srgbClr val="D0B09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MED PYTHON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14173" y="1349339"/>
            <a:ext cx="2845127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D0B097"/>
                </a:solidFill>
                <a:latin typeface="Poppins Bold"/>
                <a:ea typeface="Poppins Bold"/>
                <a:cs typeface="Poppins Bold"/>
                <a:sym typeface="Poppins Bold"/>
              </a:rPr>
              <a:t>Magdalena Persson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14173" y="1047750"/>
            <a:ext cx="2845127" cy="2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99"/>
              </a:lnSpc>
            </a:pPr>
            <a:r>
              <a:rPr lang="en-US" sz="1599" spc="-95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24 September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5517782"/>
            <a:ext cx="11594520" cy="45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3204" b="1" spc="-64">
                <a:solidFill>
                  <a:srgbClr val="E8DED3"/>
                </a:solidFill>
                <a:latin typeface="Poppins Bold"/>
                <a:ea typeface="Poppins Bold"/>
                <a:cs typeface="Poppins Bold"/>
                <a:sym typeface="Poppins Bold"/>
              </a:rPr>
              <a:t>RÅDATA </a:t>
            </a:r>
            <a:r>
              <a:rPr lang="en-US" sz="3204" b="1" spc="-64">
                <a:solidFill>
                  <a:srgbClr val="D0B097"/>
                </a:solidFill>
                <a:latin typeface="Poppins Bold"/>
                <a:ea typeface="Poppins Bold"/>
                <a:cs typeface="Poppins Bold"/>
                <a:sym typeface="Poppins Bold"/>
              </a:rPr>
              <a:t>→ ANALYS → </a:t>
            </a:r>
            <a:r>
              <a:rPr lang="en-US" sz="3204" b="1" spc="-64">
                <a:solidFill>
                  <a:srgbClr val="B5957B"/>
                </a:solidFill>
                <a:latin typeface="Poppins Bold"/>
                <a:ea typeface="Poppins Bold"/>
                <a:cs typeface="Poppins Bold"/>
                <a:sym typeface="Poppins Bold"/>
              </a:rPr>
              <a:t>FÄRDIG PDF-RAPPORT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058400" y="6595750"/>
            <a:ext cx="6305188" cy="2617787"/>
            <a:chOff x="0" y="0"/>
            <a:chExt cx="2377656" cy="9871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77656" cy="987125"/>
            </a:xfrm>
            <a:custGeom>
              <a:avLst/>
              <a:gdLst/>
              <a:ahLst/>
              <a:cxnLst/>
              <a:rect l="l" t="t" r="r" b="b"/>
              <a:pathLst>
                <a:path w="2377656" h="987125">
                  <a:moveTo>
                    <a:pt x="2377656" y="0"/>
                  </a:moveTo>
                  <a:lnTo>
                    <a:pt x="2377656" y="987125"/>
                  </a:lnTo>
                  <a:lnTo>
                    <a:pt x="0" y="987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5C5A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9050"/>
              <a:ext cx="2377656" cy="96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0" y="6886145"/>
            <a:ext cx="5192263" cy="1811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665" lvl="1" indent="-324333" algn="just">
              <a:lnSpc>
                <a:spcPts val="4867"/>
              </a:lnSpc>
              <a:buFont typeface="Arial"/>
              <a:buChar char="•"/>
            </a:pPr>
            <a:r>
              <a:rPr lang="en-US" sz="3004" spc="-60" dirty="0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Python + pandas</a:t>
            </a:r>
          </a:p>
          <a:p>
            <a:pPr marL="648665" lvl="1" indent="-324333" algn="just">
              <a:lnSpc>
                <a:spcPts val="4867"/>
              </a:lnSpc>
              <a:buFont typeface="Arial"/>
              <a:buChar char="•"/>
            </a:pPr>
            <a:r>
              <a:rPr lang="en-US" sz="3004" spc="-60" dirty="0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Jinja2 + HTML</a:t>
            </a:r>
          </a:p>
          <a:p>
            <a:pPr marL="648665" lvl="1" indent="-324333" algn="just">
              <a:lnSpc>
                <a:spcPts val="4867"/>
              </a:lnSpc>
              <a:buFont typeface="Arial"/>
              <a:buChar char="•"/>
            </a:pPr>
            <a:r>
              <a:rPr lang="en-US" sz="3004" spc="-60" dirty="0" err="1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WeasyPrint</a:t>
            </a:r>
            <a:r>
              <a:rPr lang="en-US" sz="3004" spc="-60" dirty="0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 → PDF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3">
            <a:extLst>
              <a:ext uri="{FF2B5EF4-FFF2-40B4-BE49-F238E27FC236}">
                <a16:creationId xmlns:a16="http://schemas.microsoft.com/office/drawing/2014/main" id="{7F89170C-971C-9AB4-45BC-EDE7A3021B94}"/>
              </a:ext>
            </a:extLst>
          </p:cNvPr>
          <p:cNvSpPr/>
          <p:nvPr/>
        </p:nvSpPr>
        <p:spPr>
          <a:xfrm>
            <a:off x="13235320" y="3871159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CD9080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259456C5-FC82-DC43-C935-A77C5299DB54}"/>
              </a:ext>
            </a:extLst>
          </p:cNvPr>
          <p:cNvSpPr/>
          <p:nvPr/>
        </p:nvSpPr>
        <p:spPr>
          <a:xfrm>
            <a:off x="7042312" y="3868833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CD9080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24" name="Freeform 3">
            <a:extLst>
              <a:ext uri="{FF2B5EF4-FFF2-40B4-BE49-F238E27FC236}">
                <a16:creationId xmlns:a16="http://schemas.microsoft.com/office/drawing/2014/main" id="{E96D91F7-9AF9-0396-B6A3-5F5CB696A65A}"/>
              </a:ext>
            </a:extLst>
          </p:cNvPr>
          <p:cNvSpPr/>
          <p:nvPr/>
        </p:nvSpPr>
        <p:spPr>
          <a:xfrm>
            <a:off x="900038" y="3857765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CD9080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22" name="Freeform 3">
            <a:extLst>
              <a:ext uri="{FF2B5EF4-FFF2-40B4-BE49-F238E27FC236}">
                <a16:creationId xmlns:a16="http://schemas.microsoft.com/office/drawing/2014/main" id="{4DC98910-777E-EA2E-BBDD-C0DDC00B6B10}"/>
              </a:ext>
            </a:extLst>
          </p:cNvPr>
          <p:cNvSpPr/>
          <p:nvPr/>
        </p:nvSpPr>
        <p:spPr>
          <a:xfrm>
            <a:off x="12838969" y="3604356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FFFFFF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42A96B08-AE75-8BF4-B0EC-FF08F06964F1}"/>
              </a:ext>
            </a:extLst>
          </p:cNvPr>
          <p:cNvSpPr/>
          <p:nvPr/>
        </p:nvSpPr>
        <p:spPr>
          <a:xfrm>
            <a:off x="6654999" y="3609799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FFFFFF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87358" y="3609799"/>
            <a:ext cx="4500902" cy="4967250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FFFFFF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1885AE88-2DE6-5861-B402-F046CA4CB578}"/>
              </a:ext>
            </a:extLst>
          </p:cNvPr>
          <p:cNvSpPr/>
          <p:nvPr/>
        </p:nvSpPr>
        <p:spPr>
          <a:xfrm>
            <a:off x="725908" y="3776403"/>
            <a:ext cx="4500902" cy="4877071"/>
          </a:xfrm>
          <a:custGeom>
            <a:avLst/>
            <a:gdLst/>
            <a:ahLst/>
            <a:cxnLst/>
            <a:rect l="l" t="t" r="r" b="b"/>
            <a:pathLst>
              <a:path w="950829" h="1049314">
                <a:moveTo>
                  <a:pt x="950829" y="165128"/>
                </a:moveTo>
                <a:lnTo>
                  <a:pt x="950829" y="884186"/>
                </a:lnTo>
                <a:cubicBezTo>
                  <a:pt x="950829" y="927981"/>
                  <a:pt x="933432" y="969982"/>
                  <a:pt x="902464" y="1000949"/>
                </a:cubicBezTo>
                <a:cubicBezTo>
                  <a:pt x="871497" y="1031917"/>
                  <a:pt x="829496" y="1049314"/>
                  <a:pt x="785701" y="1049314"/>
                </a:cubicBezTo>
                <a:lnTo>
                  <a:pt x="165128" y="1049314"/>
                </a:lnTo>
                <a:cubicBezTo>
                  <a:pt x="121333" y="1049314"/>
                  <a:pt x="79332" y="1031917"/>
                  <a:pt x="48365" y="1000949"/>
                </a:cubicBezTo>
                <a:cubicBezTo>
                  <a:pt x="17397" y="969982"/>
                  <a:pt x="0" y="927981"/>
                  <a:pt x="0" y="884186"/>
                </a:cubicBezTo>
                <a:lnTo>
                  <a:pt x="0" y="165128"/>
                </a:lnTo>
                <a:cubicBezTo>
                  <a:pt x="0" y="121333"/>
                  <a:pt x="17397" y="79332"/>
                  <a:pt x="48365" y="48365"/>
                </a:cubicBezTo>
                <a:cubicBezTo>
                  <a:pt x="79332" y="17397"/>
                  <a:pt x="121333" y="0"/>
                  <a:pt x="165128" y="0"/>
                </a:cubicBezTo>
                <a:lnTo>
                  <a:pt x="785701" y="0"/>
                </a:lnTo>
                <a:cubicBezTo>
                  <a:pt x="829496" y="0"/>
                  <a:pt x="871497" y="17397"/>
                  <a:pt x="902464" y="48365"/>
                </a:cubicBezTo>
                <a:cubicBezTo>
                  <a:pt x="933432" y="79332"/>
                  <a:pt x="950829" y="121333"/>
                  <a:pt x="950829" y="165128"/>
                </a:cubicBezTo>
                <a:close/>
              </a:path>
            </a:pathLst>
          </a:custGeom>
          <a:solidFill>
            <a:srgbClr val="E8DED3"/>
          </a:solidFill>
          <a:scene3d>
            <a:camera prst="orthographicFront"/>
            <a:lightRig rig="threePt" dir="t"/>
          </a:scene3d>
          <a:sp3d prstMaterial="softEdge"/>
        </p:spPr>
        <p:txBody>
          <a:bodyPr/>
          <a:lstStyle/>
          <a:p>
            <a:endParaRPr lang="sv-SE">
              <a:solidFill>
                <a:srgbClr val="FFFFFF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174439"/>
            <a:ext cx="5801941" cy="2154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9600" b="1" spc="-998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FRÅN  CSV TILL  PDF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420644"/>
            <a:ext cx="4833598" cy="33455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3600" b="1" spc="-72" dirty="0">
                <a:solidFill>
                  <a:srgbClr val="37444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DATA </a:t>
            </a:r>
          </a:p>
          <a:p>
            <a:pPr algn="l">
              <a:lnSpc>
                <a:spcPts val="3924"/>
              </a:lnSpc>
            </a:pPr>
            <a:endParaRPr lang="en-US" sz="3600" b="1" spc="-72" dirty="0">
              <a:solidFill>
                <a:srgbClr val="374440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CSV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LÄS IN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RENSA &amp; VALIDERA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893549" y="3686224"/>
            <a:ext cx="4500902" cy="4967250"/>
            <a:chOff x="0" y="0"/>
            <a:chExt cx="950829" cy="10493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0829" cy="1049314"/>
            </a:xfrm>
            <a:custGeom>
              <a:avLst/>
              <a:gdLst/>
              <a:ahLst/>
              <a:cxnLst/>
              <a:rect l="l" t="t" r="r" b="b"/>
              <a:pathLst>
                <a:path w="950829" h="1049314">
                  <a:moveTo>
                    <a:pt x="950829" y="165128"/>
                  </a:moveTo>
                  <a:lnTo>
                    <a:pt x="950829" y="884186"/>
                  </a:lnTo>
                  <a:cubicBezTo>
                    <a:pt x="950829" y="927981"/>
                    <a:pt x="933432" y="969982"/>
                    <a:pt x="902464" y="1000949"/>
                  </a:cubicBezTo>
                  <a:cubicBezTo>
                    <a:pt x="871497" y="1031917"/>
                    <a:pt x="829496" y="1049314"/>
                    <a:pt x="785701" y="1049314"/>
                  </a:cubicBezTo>
                  <a:lnTo>
                    <a:pt x="165128" y="1049314"/>
                  </a:lnTo>
                  <a:cubicBezTo>
                    <a:pt x="121333" y="1049314"/>
                    <a:pt x="79332" y="1031917"/>
                    <a:pt x="48365" y="1000949"/>
                  </a:cubicBezTo>
                  <a:cubicBezTo>
                    <a:pt x="17397" y="969982"/>
                    <a:pt x="0" y="927981"/>
                    <a:pt x="0" y="884186"/>
                  </a:cubicBezTo>
                  <a:lnTo>
                    <a:pt x="0" y="165128"/>
                  </a:lnTo>
                  <a:cubicBezTo>
                    <a:pt x="0" y="121333"/>
                    <a:pt x="17397" y="79332"/>
                    <a:pt x="48365" y="48365"/>
                  </a:cubicBezTo>
                  <a:cubicBezTo>
                    <a:pt x="79332" y="17397"/>
                    <a:pt x="121333" y="0"/>
                    <a:pt x="165128" y="0"/>
                  </a:cubicBezTo>
                  <a:lnTo>
                    <a:pt x="785701" y="0"/>
                  </a:lnTo>
                  <a:cubicBezTo>
                    <a:pt x="829496" y="0"/>
                    <a:pt x="871497" y="17397"/>
                    <a:pt x="902464" y="48365"/>
                  </a:cubicBezTo>
                  <a:cubicBezTo>
                    <a:pt x="933432" y="79332"/>
                    <a:pt x="950829" y="121333"/>
                    <a:pt x="950829" y="165128"/>
                  </a:cubicBezTo>
                  <a:close/>
                </a:path>
              </a:pathLst>
            </a:custGeom>
            <a:solidFill>
              <a:srgbClr val="E8DED3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950829" cy="1030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61190" y="3686224"/>
            <a:ext cx="4500902" cy="4967250"/>
            <a:chOff x="0" y="0"/>
            <a:chExt cx="950829" cy="10493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0829" cy="1049314"/>
            </a:xfrm>
            <a:custGeom>
              <a:avLst/>
              <a:gdLst/>
              <a:ahLst/>
              <a:cxnLst/>
              <a:rect l="l" t="t" r="r" b="b"/>
              <a:pathLst>
                <a:path w="950829" h="1049314">
                  <a:moveTo>
                    <a:pt x="950829" y="165128"/>
                  </a:moveTo>
                  <a:lnTo>
                    <a:pt x="950829" y="884186"/>
                  </a:lnTo>
                  <a:cubicBezTo>
                    <a:pt x="950829" y="927981"/>
                    <a:pt x="933432" y="969982"/>
                    <a:pt x="902464" y="1000949"/>
                  </a:cubicBezTo>
                  <a:cubicBezTo>
                    <a:pt x="871497" y="1031917"/>
                    <a:pt x="829496" y="1049314"/>
                    <a:pt x="785701" y="1049314"/>
                  </a:cubicBezTo>
                  <a:lnTo>
                    <a:pt x="165128" y="1049314"/>
                  </a:lnTo>
                  <a:cubicBezTo>
                    <a:pt x="121333" y="1049314"/>
                    <a:pt x="79332" y="1031917"/>
                    <a:pt x="48365" y="1000949"/>
                  </a:cubicBezTo>
                  <a:cubicBezTo>
                    <a:pt x="17397" y="969982"/>
                    <a:pt x="0" y="927981"/>
                    <a:pt x="0" y="884186"/>
                  </a:cubicBezTo>
                  <a:lnTo>
                    <a:pt x="0" y="165128"/>
                  </a:lnTo>
                  <a:cubicBezTo>
                    <a:pt x="0" y="121333"/>
                    <a:pt x="17397" y="79332"/>
                    <a:pt x="48365" y="48365"/>
                  </a:cubicBezTo>
                  <a:cubicBezTo>
                    <a:pt x="79332" y="17397"/>
                    <a:pt x="121333" y="0"/>
                    <a:pt x="165128" y="0"/>
                  </a:cubicBezTo>
                  <a:lnTo>
                    <a:pt x="785701" y="0"/>
                  </a:lnTo>
                  <a:cubicBezTo>
                    <a:pt x="829496" y="0"/>
                    <a:pt x="871497" y="17397"/>
                    <a:pt x="902464" y="48365"/>
                  </a:cubicBezTo>
                  <a:cubicBezTo>
                    <a:pt x="933432" y="79332"/>
                    <a:pt x="950829" y="121333"/>
                    <a:pt x="950829" y="165128"/>
                  </a:cubicBezTo>
                  <a:close/>
                </a:path>
              </a:pathLst>
            </a:custGeom>
            <a:solidFill>
              <a:srgbClr val="E8DED3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950829" cy="10302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346122" y="4420644"/>
            <a:ext cx="3958542" cy="28768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3600" b="1" spc="-72" dirty="0">
                <a:solidFill>
                  <a:srgbClr val="37444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ANALYS</a:t>
            </a:r>
          </a:p>
          <a:p>
            <a:pPr algn="l">
              <a:lnSpc>
                <a:spcPts val="3924"/>
              </a:lnSpc>
            </a:pPr>
            <a:endParaRPr lang="en-US" sz="3600" b="1" spc="-72" dirty="0">
              <a:solidFill>
                <a:srgbClr val="374440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algn="l">
              <a:lnSpc>
                <a:spcPts val="3924"/>
              </a:lnSpc>
            </a:pPr>
            <a:endParaRPr lang="en-US" sz="3600" b="1" spc="-72" dirty="0">
              <a:solidFill>
                <a:srgbClr val="374440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KPI:ER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924"/>
              </a:lnSpc>
            </a:pPr>
            <a:r>
              <a:rPr lang="en-US" sz="3600" spc="-72" dirty="0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VISUALISERINGAR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92718" y="4420644"/>
            <a:ext cx="3969374" cy="438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3645" b="1" spc="-72">
                <a:solidFill>
                  <a:srgbClr val="37444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RAPPORT</a:t>
            </a:r>
          </a:p>
          <a:p>
            <a:pPr algn="l">
              <a:lnSpc>
                <a:spcPts val="3536"/>
              </a:lnSpc>
            </a:pPr>
            <a:endParaRPr lang="en-US" sz="3645" b="1" spc="-72">
              <a:solidFill>
                <a:srgbClr val="374440"/>
              </a:solidFill>
              <a:latin typeface="Poppins Ultra-Bold"/>
              <a:ea typeface="Poppins Ultra-Bold"/>
              <a:cs typeface="Poppins Ultra-Bold"/>
              <a:sym typeface="Poppins Ultra-Bold"/>
            </a:endParaRP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JINJA2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HTML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WEASYPRINT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l">
              <a:lnSpc>
                <a:spcPts val="3536"/>
              </a:lnSpc>
            </a:pPr>
            <a:r>
              <a:rPr lang="en-US" sz="3645" spc="-72">
                <a:solidFill>
                  <a:srgbClr val="374440"/>
                </a:solidFill>
                <a:latin typeface="Poppins"/>
                <a:ea typeface="Poppins"/>
                <a:cs typeface="Poppins"/>
                <a:sym typeface="Poppins"/>
              </a:rPr>
              <a:t>PDF</a:t>
            </a:r>
          </a:p>
          <a:p>
            <a:pPr algn="l">
              <a:lnSpc>
                <a:spcPts val="2916"/>
              </a:lnSpc>
            </a:pPr>
            <a:endParaRPr lang="en-US" sz="3645" spc="-72">
              <a:solidFill>
                <a:srgbClr val="37444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3">
            <a:extLst>
              <a:ext uri="{FF2B5EF4-FFF2-40B4-BE49-F238E27FC236}">
                <a16:creationId xmlns:a16="http://schemas.microsoft.com/office/drawing/2014/main" id="{CD12F424-695F-BE54-5E09-6F8F517C9D72}"/>
              </a:ext>
            </a:extLst>
          </p:cNvPr>
          <p:cNvGrpSpPr/>
          <p:nvPr/>
        </p:nvGrpSpPr>
        <p:grpSpPr>
          <a:xfrm>
            <a:off x="9829800" y="3506212"/>
            <a:ext cx="6882405" cy="3453173"/>
            <a:chOff x="0" y="0"/>
            <a:chExt cx="1967466" cy="987125"/>
          </a:xfrm>
          <a:solidFill>
            <a:srgbClr val="213F3E">
              <a:alpha val="50000"/>
            </a:srgbClr>
          </a:solidFill>
        </p:grpSpPr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A23D05D5-F054-2B96-CFFF-C0D66B254976}"/>
                </a:ext>
              </a:extLst>
            </p:cNvPr>
            <p:cNvSpPr/>
            <p:nvPr/>
          </p:nvSpPr>
          <p:spPr>
            <a:xfrm>
              <a:off x="0" y="0"/>
              <a:ext cx="1967466" cy="987125"/>
            </a:xfrm>
            <a:custGeom>
              <a:avLst/>
              <a:gdLst/>
              <a:ahLst/>
              <a:cxnLst/>
              <a:rect l="l" t="t" r="r" b="b"/>
              <a:pathLst>
                <a:path w="1967466" h="987125">
                  <a:moveTo>
                    <a:pt x="1967466" y="0"/>
                  </a:moveTo>
                  <a:lnTo>
                    <a:pt x="1967466" y="987125"/>
                  </a:lnTo>
                  <a:lnTo>
                    <a:pt x="0" y="987125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sv-SE"/>
            </a:p>
          </p:txBody>
        </p:sp>
        <p:sp>
          <p:nvSpPr>
            <p:cNvPr id="20" name="TextBox 5">
              <a:extLst>
                <a:ext uri="{FF2B5EF4-FFF2-40B4-BE49-F238E27FC236}">
                  <a16:creationId xmlns:a16="http://schemas.microsoft.com/office/drawing/2014/main" id="{DA0D453F-DE3E-4E0B-C23B-D6D6D9B8E908}"/>
                </a:ext>
              </a:extLst>
            </p:cNvPr>
            <p:cNvSpPr txBox="1"/>
            <p:nvPr/>
          </p:nvSpPr>
          <p:spPr>
            <a:xfrm>
              <a:off x="0" y="19050"/>
              <a:ext cx="1967466" cy="96807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7B1A908A-4BA1-4D27-8E76-8B0322C19CEF}"/>
              </a:ext>
            </a:extLst>
          </p:cNvPr>
          <p:cNvGrpSpPr/>
          <p:nvPr/>
        </p:nvGrpSpPr>
        <p:grpSpPr>
          <a:xfrm>
            <a:off x="495186" y="2875979"/>
            <a:ext cx="7907553" cy="1076414"/>
            <a:chOff x="0" y="0"/>
            <a:chExt cx="2601359" cy="354099"/>
          </a:xfrm>
          <a:solidFill>
            <a:srgbClr val="213F3E">
              <a:alpha val="50000"/>
            </a:srgbClr>
          </a:solidFill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D3F493-3302-EC3B-F3A3-E5A451FAA4D3}"/>
                </a:ext>
              </a:extLst>
            </p:cNvPr>
            <p:cNvSpPr/>
            <p:nvPr/>
          </p:nvSpPr>
          <p:spPr>
            <a:xfrm>
              <a:off x="0" y="0"/>
              <a:ext cx="2601359" cy="354099"/>
            </a:xfrm>
            <a:custGeom>
              <a:avLst/>
              <a:gdLst/>
              <a:ahLst/>
              <a:cxnLst/>
              <a:rect l="l" t="t" r="r" b="b"/>
              <a:pathLst>
                <a:path w="2601359" h="354099">
                  <a:moveTo>
                    <a:pt x="2601359" y="0"/>
                  </a:moveTo>
                  <a:lnTo>
                    <a:pt x="2601359" y="354099"/>
                  </a:lnTo>
                  <a:lnTo>
                    <a:pt x="0" y="354099"/>
                  </a:lnTo>
                  <a:lnTo>
                    <a:pt x="0" y="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sv-SE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C5198D3B-6D39-9B3D-6AEA-8A33E18B8242}"/>
                </a:ext>
              </a:extLst>
            </p:cNvPr>
            <p:cNvSpPr txBox="1"/>
            <p:nvPr/>
          </p:nvSpPr>
          <p:spPr>
            <a:xfrm>
              <a:off x="0" y="19050"/>
              <a:ext cx="2601359" cy="33504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2" name="TextBox 2"/>
          <p:cNvSpPr txBox="1"/>
          <p:nvPr/>
        </p:nvSpPr>
        <p:spPr>
          <a:xfrm>
            <a:off x="370871" y="583779"/>
            <a:ext cx="13764810" cy="2026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79"/>
              </a:lnSpc>
            </a:pPr>
            <a:r>
              <a:rPr lang="en-US" sz="12974" b="1" spc="-1349">
                <a:solidFill>
                  <a:srgbClr val="E8DED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JINJA2 </a:t>
            </a:r>
          </a:p>
          <a:p>
            <a:pPr algn="l">
              <a:lnSpc>
                <a:spcPts val="4860"/>
              </a:lnSpc>
            </a:pPr>
            <a:r>
              <a:rPr lang="en-US" sz="6075" b="1" spc="-631">
                <a:solidFill>
                  <a:srgbClr val="E8DED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FRÅN  PYTHON  TILL  HTML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594644" y="3256556"/>
            <a:ext cx="6882405" cy="3453173"/>
            <a:chOff x="0" y="0"/>
            <a:chExt cx="1967466" cy="987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7466" cy="987125"/>
            </a:xfrm>
            <a:custGeom>
              <a:avLst/>
              <a:gdLst/>
              <a:ahLst/>
              <a:cxnLst/>
              <a:rect l="l" t="t" r="r" b="b"/>
              <a:pathLst>
                <a:path w="1967466" h="987125">
                  <a:moveTo>
                    <a:pt x="1967466" y="0"/>
                  </a:moveTo>
                  <a:lnTo>
                    <a:pt x="1967466" y="987125"/>
                  </a:lnTo>
                  <a:lnTo>
                    <a:pt x="0" y="987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5C5A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1967466" cy="968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19502" y="4239751"/>
            <a:ext cx="5284258" cy="550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&lt;!-- base.html --&gt;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&lt;html&gt;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&lt;body&gt;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     {% block content %}{% endblock %}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&lt;/body&gt;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&lt;/html&gt;</a:t>
            </a:r>
          </a:p>
          <a:p>
            <a:pPr algn="just">
              <a:lnSpc>
                <a:spcPts val="3146"/>
              </a:lnSpc>
            </a:pPr>
            <a:endParaRPr lang="en-US" sz="1942" spc="-38">
              <a:solidFill>
                <a:srgbClr val="D0B09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146"/>
              </a:lnSpc>
            </a:pPr>
            <a:endParaRPr lang="en-US" sz="1942" spc="-38">
              <a:solidFill>
                <a:srgbClr val="D0B09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&lt;!-- report.html --&gt;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{% extends "base.html" %}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{% block content %}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     &lt;h1&gt;Webbanalys&lt;/h1&gt;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     &lt;p&gt;{{ total_revenue }}&lt;/p&gt; </a:t>
            </a:r>
          </a:p>
          <a:p>
            <a:pPr algn="just">
              <a:lnSpc>
                <a:spcPts val="3146"/>
              </a:lnSpc>
            </a:pPr>
            <a:r>
              <a:rPr lang="en-US" sz="1942" spc="-38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{% endblock %}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52052" y="3621510"/>
            <a:ext cx="6167590" cy="261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template =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env.get_template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("report.html") </a:t>
            </a:r>
          </a:p>
          <a:p>
            <a:pPr algn="just">
              <a:lnSpc>
                <a:spcPts val="3498"/>
              </a:lnSpc>
            </a:pPr>
            <a:endParaRPr lang="en-US" sz="2159" spc="-43" dirty="0">
              <a:solidFill>
                <a:srgbClr val="E8DED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html =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template.render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( </a:t>
            </a:r>
          </a:p>
          <a:p>
            <a:pPr algn="just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total_revenue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total_revenue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</a:p>
          <a:p>
            <a:pPr algn="just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channel_kpis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channel_kpis</a:t>
            </a:r>
            <a:endParaRPr lang="en-US" sz="2159" spc="-43" dirty="0">
              <a:solidFill>
                <a:srgbClr val="E8DED3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)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70871" y="2733179"/>
            <a:ext cx="7907553" cy="1076414"/>
            <a:chOff x="0" y="0"/>
            <a:chExt cx="2601359" cy="3540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01359" cy="354099"/>
            </a:xfrm>
            <a:custGeom>
              <a:avLst/>
              <a:gdLst/>
              <a:ahLst/>
              <a:cxnLst/>
              <a:rect l="l" t="t" r="r" b="b"/>
              <a:pathLst>
                <a:path w="2601359" h="354099">
                  <a:moveTo>
                    <a:pt x="2601359" y="0"/>
                  </a:moveTo>
                  <a:lnTo>
                    <a:pt x="2601359" y="354099"/>
                  </a:lnTo>
                  <a:lnTo>
                    <a:pt x="0" y="354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5C5A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9050"/>
              <a:ext cx="2601359" cy="3350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9502" y="2930642"/>
            <a:ext cx="7658922" cy="575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4"/>
              </a:lnSpc>
            </a:pPr>
            <a:r>
              <a:rPr lang="en-US" sz="2959" spc="-59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base.html -&gt; inheritance -&gt; report.html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52903" y="2725011"/>
            <a:ext cx="4441135" cy="53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4275" spc="-444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PYTHON  -&gt;  HTML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4644" y="7938454"/>
            <a:ext cx="4441135" cy="817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4275" b="1" spc="-444">
                <a:solidFill>
                  <a:srgbClr val="E8DED3"/>
                </a:solidFill>
                <a:latin typeface="Poppins Bold"/>
                <a:ea typeface="Poppins Bold"/>
                <a:cs typeface="Poppins Bold"/>
                <a:sym typeface="Poppins Bold"/>
              </a:rPr>
              <a:t>WEASYPRINT</a:t>
            </a:r>
          </a:p>
          <a:p>
            <a:pPr algn="l">
              <a:lnSpc>
                <a:spcPts val="2540"/>
              </a:lnSpc>
            </a:pPr>
            <a:endParaRPr lang="en-US" sz="4275" b="1" spc="-444">
              <a:solidFill>
                <a:srgbClr val="E8DED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634212" y="8418323"/>
            <a:ext cx="6842838" cy="1026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18"/>
              </a:lnSpc>
            </a:pPr>
            <a:r>
              <a:rPr lang="en-US" sz="2542" spc="-50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Läser HTML-strukturen och CSS-stylingen och skapar en PDF med samma layout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2270509" y="2156783"/>
            <a:ext cx="5646538" cy="3348528"/>
          </a:xfrm>
          <a:custGeom>
            <a:avLst/>
            <a:gdLst/>
            <a:ahLst/>
            <a:cxnLst/>
            <a:rect l="l" t="t" r="r" b="b"/>
            <a:pathLst>
              <a:path w="5646538" h="3348528">
                <a:moveTo>
                  <a:pt x="0" y="0"/>
                </a:moveTo>
                <a:lnTo>
                  <a:pt x="5646538" y="0"/>
                </a:lnTo>
                <a:lnTo>
                  <a:pt x="5646538" y="3348528"/>
                </a:lnTo>
                <a:lnTo>
                  <a:pt x="0" y="3348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sv-SE"/>
          </a:p>
        </p:txBody>
      </p:sp>
      <p:sp>
        <p:nvSpPr>
          <p:cNvPr id="4" name="Freeform 4"/>
          <p:cNvSpPr/>
          <p:nvPr/>
        </p:nvSpPr>
        <p:spPr>
          <a:xfrm>
            <a:off x="12270509" y="5752961"/>
            <a:ext cx="5646538" cy="3267673"/>
          </a:xfrm>
          <a:custGeom>
            <a:avLst/>
            <a:gdLst/>
            <a:ahLst/>
            <a:cxnLst/>
            <a:rect l="l" t="t" r="r" b="b"/>
            <a:pathLst>
              <a:path w="5646538" h="3267673">
                <a:moveTo>
                  <a:pt x="0" y="0"/>
                </a:moveTo>
                <a:lnTo>
                  <a:pt x="5646538" y="0"/>
                </a:lnTo>
                <a:lnTo>
                  <a:pt x="5646538" y="3267673"/>
                </a:lnTo>
                <a:lnTo>
                  <a:pt x="0" y="3267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sv-SE"/>
          </a:p>
        </p:txBody>
      </p:sp>
      <p:sp>
        <p:nvSpPr>
          <p:cNvPr id="5" name="TextBox 5"/>
          <p:cNvSpPr txBox="1"/>
          <p:nvPr/>
        </p:nvSpPr>
        <p:spPr>
          <a:xfrm>
            <a:off x="7726313" y="343202"/>
            <a:ext cx="10190735" cy="165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20"/>
              </a:lnSpc>
            </a:pPr>
            <a:r>
              <a:rPr lang="en-US" sz="10275" b="1" spc="-1068">
                <a:solidFill>
                  <a:srgbClr val="D0B09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RESULTAT</a:t>
            </a:r>
          </a:p>
          <a:p>
            <a:pPr algn="l">
              <a:lnSpc>
                <a:spcPts val="4060"/>
              </a:lnSpc>
            </a:pPr>
            <a:r>
              <a:rPr lang="en-US" sz="5075" b="1" spc="-527">
                <a:solidFill>
                  <a:srgbClr val="E8DED3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FRÅN DATA TILL RAPPORT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0609" y="9643767"/>
            <a:ext cx="8920594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3000" spc="-312">
                <a:solidFill>
                  <a:srgbClr val="D0B097"/>
                </a:solidFill>
                <a:latin typeface="Poppins"/>
                <a:ea typeface="Poppins"/>
                <a:cs typeface="Poppins"/>
                <a:sym typeface="Poppins"/>
              </a:rPr>
              <a:t>KPI:ER | VISUALISERINGAR | AUTOMATISERAD RAPPORT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0600" y="4712003"/>
            <a:ext cx="3494803" cy="862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report_2026_09_22.pdf</a:t>
            </a:r>
          </a:p>
          <a:p>
            <a:pPr algn="r">
              <a:lnSpc>
                <a:spcPts val="3498"/>
              </a:lnSpc>
            </a:pP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Före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ny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data</a:t>
            </a:r>
          </a:p>
        </p:txBody>
      </p:sp>
      <p:pic>
        <p:nvPicPr>
          <p:cNvPr id="12" name="Bildobjekt 11">
            <a:extLst>
              <a:ext uri="{FF2B5EF4-FFF2-40B4-BE49-F238E27FC236}">
                <a16:creationId xmlns:a16="http://schemas.microsoft.com/office/drawing/2014/main" id="{B8F8F63B-3523-FC22-7E86-59ECDBBCD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43202"/>
            <a:ext cx="6573591" cy="8990353"/>
          </a:xfrm>
          <a:prstGeom prst="rect">
            <a:avLst/>
          </a:prstGeom>
        </p:spPr>
      </p:pic>
      <p:sp>
        <p:nvSpPr>
          <p:cNvPr id="14" name="textruta 13">
            <a:extLst>
              <a:ext uri="{FF2B5EF4-FFF2-40B4-BE49-F238E27FC236}">
                <a16:creationId xmlns:a16="http://schemas.microsoft.com/office/drawing/2014/main" id="{063309C2-2857-4870-7E3A-A4CDAE0D7052}"/>
              </a:ext>
            </a:extLst>
          </p:cNvPr>
          <p:cNvSpPr txBox="1"/>
          <p:nvPr/>
        </p:nvSpPr>
        <p:spPr>
          <a:xfrm>
            <a:off x="2966846" y="8115230"/>
            <a:ext cx="9144000" cy="955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3498"/>
              </a:lnSpc>
            </a:pP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report_2026_09_23.pdf</a:t>
            </a:r>
          </a:p>
          <a:p>
            <a:pPr algn="r">
              <a:lnSpc>
                <a:spcPts val="3498"/>
              </a:lnSpc>
            </a:pP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Efter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159" spc="-43" dirty="0" err="1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ny</a:t>
            </a:r>
            <a:r>
              <a:rPr lang="en-US" sz="2159" spc="-43" dirty="0">
                <a:solidFill>
                  <a:srgbClr val="E8DED3"/>
                </a:solidFill>
                <a:latin typeface="Poppins"/>
                <a:ea typeface="Poppins"/>
                <a:cs typeface="Poppins"/>
                <a:sym typeface="Poppins"/>
              </a:rPr>
              <a:t>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4">
            <a:extLst>
              <a:ext uri="{FF2B5EF4-FFF2-40B4-BE49-F238E27FC236}">
                <a16:creationId xmlns:a16="http://schemas.microsoft.com/office/drawing/2014/main" id="{B89FDEEB-CCD4-E66A-BAA2-14BE8F3CE8CA}"/>
              </a:ext>
            </a:extLst>
          </p:cNvPr>
          <p:cNvSpPr/>
          <p:nvPr/>
        </p:nvSpPr>
        <p:spPr>
          <a:xfrm>
            <a:off x="2596199" y="7698637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CD9080"/>
          </a:solidFill>
        </p:spPr>
        <p:txBody>
          <a:bodyPr/>
          <a:lstStyle/>
          <a:p>
            <a:endParaRPr lang="sv-SE"/>
          </a:p>
        </p:txBody>
      </p:sp>
      <p:sp>
        <p:nvSpPr>
          <p:cNvPr id="26" name="Freeform 4">
            <a:extLst>
              <a:ext uri="{FF2B5EF4-FFF2-40B4-BE49-F238E27FC236}">
                <a16:creationId xmlns:a16="http://schemas.microsoft.com/office/drawing/2014/main" id="{79007194-D878-8DE8-B873-1E5957F11074}"/>
              </a:ext>
            </a:extLst>
          </p:cNvPr>
          <p:cNvSpPr/>
          <p:nvPr/>
        </p:nvSpPr>
        <p:spPr>
          <a:xfrm>
            <a:off x="2596199" y="5251906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CD9080"/>
          </a:solidFill>
        </p:spPr>
        <p:txBody>
          <a:bodyPr/>
          <a:lstStyle/>
          <a:p>
            <a:endParaRPr lang="sv-SE"/>
          </a:p>
        </p:txBody>
      </p:sp>
      <p:sp>
        <p:nvSpPr>
          <p:cNvPr id="24" name="Freeform 4">
            <a:extLst>
              <a:ext uri="{FF2B5EF4-FFF2-40B4-BE49-F238E27FC236}">
                <a16:creationId xmlns:a16="http://schemas.microsoft.com/office/drawing/2014/main" id="{33B88D06-68C1-5F7A-8456-A8F18D8683BA}"/>
              </a:ext>
            </a:extLst>
          </p:cNvPr>
          <p:cNvSpPr/>
          <p:nvPr/>
        </p:nvSpPr>
        <p:spPr>
          <a:xfrm>
            <a:off x="2596199" y="2761558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CD9080"/>
          </a:solidFill>
        </p:spPr>
        <p:txBody>
          <a:bodyPr/>
          <a:lstStyle/>
          <a:p>
            <a:endParaRPr lang="sv-SE"/>
          </a:p>
        </p:txBody>
      </p:sp>
      <p:sp>
        <p:nvSpPr>
          <p:cNvPr id="22" name="Freeform 4">
            <a:extLst>
              <a:ext uri="{FF2B5EF4-FFF2-40B4-BE49-F238E27FC236}">
                <a16:creationId xmlns:a16="http://schemas.microsoft.com/office/drawing/2014/main" id="{3A6E99CE-931B-8EB8-124A-CC7C460C4F4D}"/>
              </a:ext>
            </a:extLst>
          </p:cNvPr>
          <p:cNvSpPr/>
          <p:nvPr/>
        </p:nvSpPr>
        <p:spPr>
          <a:xfrm>
            <a:off x="2286000" y="7421527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sv-SE"/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EE694F09-F0F3-8872-CEA8-0D33BC8944A3}"/>
              </a:ext>
            </a:extLst>
          </p:cNvPr>
          <p:cNvSpPr/>
          <p:nvPr/>
        </p:nvSpPr>
        <p:spPr>
          <a:xfrm>
            <a:off x="2286000" y="4931179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sv-SE"/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2FA3EB8F-C80C-B03D-1FB5-862CB8C9DEDD}"/>
              </a:ext>
            </a:extLst>
          </p:cNvPr>
          <p:cNvSpPr/>
          <p:nvPr/>
        </p:nvSpPr>
        <p:spPr>
          <a:xfrm>
            <a:off x="2286000" y="2440831"/>
            <a:ext cx="13389472" cy="1797201"/>
          </a:xfrm>
          <a:custGeom>
            <a:avLst/>
            <a:gdLst/>
            <a:ahLst/>
            <a:cxnLst/>
            <a:rect l="l" t="t" r="r" b="b"/>
            <a:pathLst>
              <a:path w="2828566" h="379652">
                <a:moveTo>
                  <a:pt x="2828566" y="55508"/>
                </a:moveTo>
                <a:lnTo>
                  <a:pt x="2828566" y="324144"/>
                </a:lnTo>
                <a:cubicBezTo>
                  <a:pt x="2828566" y="338866"/>
                  <a:pt x="2822718" y="352985"/>
                  <a:pt x="2812308" y="363394"/>
                </a:cubicBezTo>
                <a:cubicBezTo>
                  <a:pt x="2801899" y="373804"/>
                  <a:pt x="2787780" y="379652"/>
                  <a:pt x="2773058" y="379652"/>
                </a:cubicBezTo>
                <a:lnTo>
                  <a:pt x="55508" y="379652"/>
                </a:lnTo>
                <a:cubicBezTo>
                  <a:pt x="40786" y="379652"/>
                  <a:pt x="26668" y="373804"/>
                  <a:pt x="16258" y="363394"/>
                </a:cubicBezTo>
                <a:cubicBezTo>
                  <a:pt x="5848" y="352985"/>
                  <a:pt x="0" y="338866"/>
                  <a:pt x="0" y="324144"/>
                </a:cubicBezTo>
                <a:lnTo>
                  <a:pt x="0" y="55508"/>
                </a:lnTo>
                <a:cubicBezTo>
                  <a:pt x="0" y="40786"/>
                  <a:pt x="5848" y="26668"/>
                  <a:pt x="16258" y="16258"/>
                </a:cubicBezTo>
                <a:cubicBezTo>
                  <a:pt x="26668" y="5848"/>
                  <a:pt x="40786" y="0"/>
                  <a:pt x="55508" y="0"/>
                </a:cubicBezTo>
                <a:lnTo>
                  <a:pt x="2773058" y="0"/>
                </a:lnTo>
                <a:cubicBezTo>
                  <a:pt x="2787780" y="0"/>
                  <a:pt x="2801899" y="5848"/>
                  <a:pt x="2812308" y="16258"/>
                </a:cubicBezTo>
                <a:cubicBezTo>
                  <a:pt x="2822718" y="26668"/>
                  <a:pt x="2828566" y="40786"/>
                  <a:pt x="2828566" y="55508"/>
                </a:cubicBezTo>
                <a:close/>
              </a:path>
            </a:pathLst>
          </a:custGeom>
          <a:solidFill>
            <a:srgbClr val="FFFFFF"/>
          </a:solidFill>
        </p:spPr>
        <p:txBody>
          <a:bodyPr/>
          <a:lstStyle/>
          <a:p>
            <a:endParaRPr lang="sv-SE"/>
          </a:p>
        </p:txBody>
      </p:sp>
      <p:sp>
        <p:nvSpPr>
          <p:cNvPr id="2" name="TextBox 2"/>
          <p:cNvSpPr txBox="1"/>
          <p:nvPr/>
        </p:nvSpPr>
        <p:spPr>
          <a:xfrm>
            <a:off x="1993362" y="791162"/>
            <a:ext cx="14301277" cy="1337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69"/>
              </a:lnSpc>
            </a:pPr>
            <a:r>
              <a:rPr lang="en-US" sz="10961" b="1" spc="-1139">
                <a:solidFill>
                  <a:srgbClr val="D0B097"/>
                </a:solidFill>
                <a:latin typeface="Poppins Bold"/>
                <a:ea typeface="Poppins Bold"/>
                <a:cs typeface="Poppins Bold"/>
                <a:sym typeface="Poppins Bold"/>
              </a:rPr>
              <a:t>VAD TAR JAG MED MIG?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449264" y="2584866"/>
            <a:ext cx="13389472" cy="1797201"/>
            <a:chOff x="0" y="0"/>
            <a:chExt cx="2828566" cy="3796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28566" cy="379652"/>
            </a:xfrm>
            <a:custGeom>
              <a:avLst/>
              <a:gdLst/>
              <a:ahLst/>
              <a:cxnLst/>
              <a:rect l="l" t="t" r="r" b="b"/>
              <a:pathLst>
                <a:path w="2828566" h="379652">
                  <a:moveTo>
                    <a:pt x="2828566" y="55508"/>
                  </a:moveTo>
                  <a:lnTo>
                    <a:pt x="2828566" y="324144"/>
                  </a:lnTo>
                  <a:cubicBezTo>
                    <a:pt x="2828566" y="338866"/>
                    <a:pt x="2822718" y="352985"/>
                    <a:pt x="2812308" y="363394"/>
                  </a:cubicBezTo>
                  <a:cubicBezTo>
                    <a:pt x="2801899" y="373804"/>
                    <a:pt x="2787780" y="379652"/>
                    <a:pt x="2773058" y="379652"/>
                  </a:cubicBezTo>
                  <a:lnTo>
                    <a:pt x="55508" y="379652"/>
                  </a:lnTo>
                  <a:cubicBezTo>
                    <a:pt x="40786" y="379652"/>
                    <a:pt x="26668" y="373804"/>
                    <a:pt x="16258" y="363394"/>
                  </a:cubicBezTo>
                  <a:cubicBezTo>
                    <a:pt x="5848" y="352985"/>
                    <a:pt x="0" y="338866"/>
                    <a:pt x="0" y="324144"/>
                  </a:cubicBezTo>
                  <a:lnTo>
                    <a:pt x="0" y="55508"/>
                  </a:lnTo>
                  <a:cubicBezTo>
                    <a:pt x="0" y="40786"/>
                    <a:pt x="5848" y="26668"/>
                    <a:pt x="16258" y="16258"/>
                  </a:cubicBezTo>
                  <a:cubicBezTo>
                    <a:pt x="26668" y="5848"/>
                    <a:pt x="40786" y="0"/>
                    <a:pt x="55508" y="0"/>
                  </a:cubicBezTo>
                  <a:lnTo>
                    <a:pt x="2773058" y="0"/>
                  </a:lnTo>
                  <a:cubicBezTo>
                    <a:pt x="2787780" y="0"/>
                    <a:pt x="2801899" y="5848"/>
                    <a:pt x="2812308" y="16258"/>
                  </a:cubicBezTo>
                  <a:cubicBezTo>
                    <a:pt x="2822718" y="26668"/>
                    <a:pt x="2828566" y="40786"/>
                    <a:pt x="2828566" y="55508"/>
                  </a:cubicBezTo>
                  <a:close/>
                </a:path>
              </a:pathLst>
            </a:custGeom>
            <a:solidFill>
              <a:srgbClr val="E8DED3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9050"/>
              <a:ext cx="2828566" cy="360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023928" y="2869490"/>
            <a:ext cx="10240143" cy="109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2"/>
              </a:lnSpc>
            </a:pPr>
            <a:r>
              <a:rPr lang="en-US" sz="2693" b="1" spc="-53">
                <a:solidFill>
                  <a:srgbClr val="315C5A"/>
                </a:solidFill>
                <a:latin typeface="Poppins Bold"/>
                <a:ea typeface="Poppins Bold"/>
                <a:cs typeface="Poppins Bold"/>
                <a:sym typeface="Poppins Bold"/>
              </a:rPr>
              <a:t>NY TEKNIK</a:t>
            </a:r>
          </a:p>
          <a:p>
            <a:pPr algn="just">
              <a:lnSpc>
                <a:spcPts val="4362"/>
              </a:lnSpc>
            </a:pPr>
            <a:r>
              <a:rPr lang="en-US" sz="2693" spc="-53">
                <a:solidFill>
                  <a:srgbClr val="315C5A"/>
                </a:solidFill>
                <a:latin typeface="Poppins"/>
                <a:ea typeface="Poppins"/>
                <a:cs typeface="Poppins"/>
                <a:sym typeface="Poppins"/>
              </a:rPr>
              <a:t>HTML - Jinja2 - WeasyPrint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449264" y="5075214"/>
            <a:ext cx="13389472" cy="1797201"/>
            <a:chOff x="0" y="0"/>
            <a:chExt cx="2828566" cy="37965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28566" cy="379652"/>
            </a:xfrm>
            <a:custGeom>
              <a:avLst/>
              <a:gdLst/>
              <a:ahLst/>
              <a:cxnLst/>
              <a:rect l="l" t="t" r="r" b="b"/>
              <a:pathLst>
                <a:path w="2828566" h="379652">
                  <a:moveTo>
                    <a:pt x="2828566" y="55508"/>
                  </a:moveTo>
                  <a:lnTo>
                    <a:pt x="2828566" y="324144"/>
                  </a:lnTo>
                  <a:cubicBezTo>
                    <a:pt x="2828566" y="338866"/>
                    <a:pt x="2822718" y="352985"/>
                    <a:pt x="2812308" y="363394"/>
                  </a:cubicBezTo>
                  <a:cubicBezTo>
                    <a:pt x="2801899" y="373804"/>
                    <a:pt x="2787780" y="379652"/>
                    <a:pt x="2773058" y="379652"/>
                  </a:cubicBezTo>
                  <a:lnTo>
                    <a:pt x="55508" y="379652"/>
                  </a:lnTo>
                  <a:cubicBezTo>
                    <a:pt x="40786" y="379652"/>
                    <a:pt x="26668" y="373804"/>
                    <a:pt x="16258" y="363394"/>
                  </a:cubicBezTo>
                  <a:cubicBezTo>
                    <a:pt x="5848" y="352985"/>
                    <a:pt x="0" y="338866"/>
                    <a:pt x="0" y="324144"/>
                  </a:cubicBezTo>
                  <a:lnTo>
                    <a:pt x="0" y="55508"/>
                  </a:lnTo>
                  <a:cubicBezTo>
                    <a:pt x="0" y="40786"/>
                    <a:pt x="5848" y="26668"/>
                    <a:pt x="16258" y="16258"/>
                  </a:cubicBezTo>
                  <a:cubicBezTo>
                    <a:pt x="26668" y="5848"/>
                    <a:pt x="40786" y="0"/>
                    <a:pt x="55508" y="0"/>
                  </a:cubicBezTo>
                  <a:lnTo>
                    <a:pt x="2773058" y="0"/>
                  </a:lnTo>
                  <a:cubicBezTo>
                    <a:pt x="2787780" y="0"/>
                    <a:pt x="2801899" y="5848"/>
                    <a:pt x="2812308" y="16258"/>
                  </a:cubicBezTo>
                  <a:cubicBezTo>
                    <a:pt x="2822718" y="26668"/>
                    <a:pt x="2828566" y="40786"/>
                    <a:pt x="2828566" y="55508"/>
                  </a:cubicBezTo>
                  <a:close/>
                </a:path>
              </a:pathLst>
            </a:custGeom>
            <a:solidFill>
              <a:srgbClr val="E8DED3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828566" cy="360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49264" y="7565563"/>
            <a:ext cx="13389472" cy="1797201"/>
            <a:chOff x="0" y="0"/>
            <a:chExt cx="2828566" cy="3796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28566" cy="379652"/>
            </a:xfrm>
            <a:custGeom>
              <a:avLst/>
              <a:gdLst/>
              <a:ahLst/>
              <a:cxnLst/>
              <a:rect l="l" t="t" r="r" b="b"/>
              <a:pathLst>
                <a:path w="2828566" h="379652">
                  <a:moveTo>
                    <a:pt x="2828566" y="55508"/>
                  </a:moveTo>
                  <a:lnTo>
                    <a:pt x="2828566" y="324144"/>
                  </a:lnTo>
                  <a:cubicBezTo>
                    <a:pt x="2828566" y="338866"/>
                    <a:pt x="2822718" y="352985"/>
                    <a:pt x="2812308" y="363394"/>
                  </a:cubicBezTo>
                  <a:cubicBezTo>
                    <a:pt x="2801899" y="373804"/>
                    <a:pt x="2787780" y="379652"/>
                    <a:pt x="2773058" y="379652"/>
                  </a:cubicBezTo>
                  <a:lnTo>
                    <a:pt x="55508" y="379652"/>
                  </a:lnTo>
                  <a:cubicBezTo>
                    <a:pt x="40786" y="379652"/>
                    <a:pt x="26668" y="373804"/>
                    <a:pt x="16258" y="363394"/>
                  </a:cubicBezTo>
                  <a:cubicBezTo>
                    <a:pt x="5848" y="352985"/>
                    <a:pt x="0" y="338866"/>
                    <a:pt x="0" y="324144"/>
                  </a:cubicBezTo>
                  <a:lnTo>
                    <a:pt x="0" y="55508"/>
                  </a:lnTo>
                  <a:cubicBezTo>
                    <a:pt x="0" y="40786"/>
                    <a:pt x="5848" y="26668"/>
                    <a:pt x="16258" y="16258"/>
                  </a:cubicBezTo>
                  <a:cubicBezTo>
                    <a:pt x="26668" y="5848"/>
                    <a:pt x="40786" y="0"/>
                    <a:pt x="55508" y="0"/>
                  </a:cubicBezTo>
                  <a:lnTo>
                    <a:pt x="2773058" y="0"/>
                  </a:lnTo>
                  <a:cubicBezTo>
                    <a:pt x="2787780" y="0"/>
                    <a:pt x="2801899" y="5848"/>
                    <a:pt x="2812308" y="16258"/>
                  </a:cubicBezTo>
                  <a:cubicBezTo>
                    <a:pt x="2822718" y="26668"/>
                    <a:pt x="2828566" y="40786"/>
                    <a:pt x="2828566" y="55508"/>
                  </a:cubicBezTo>
                  <a:close/>
                </a:path>
              </a:pathLst>
            </a:custGeom>
            <a:solidFill>
              <a:srgbClr val="E8DED3"/>
            </a:solidFill>
          </p:spPr>
          <p:txBody>
            <a:bodyPr/>
            <a:lstStyle/>
            <a:p>
              <a:endParaRPr lang="sv-SE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9050"/>
              <a:ext cx="2828566" cy="3606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23928" y="5359838"/>
            <a:ext cx="9494249" cy="109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2"/>
              </a:lnSpc>
            </a:pPr>
            <a:r>
              <a:rPr lang="en-US" sz="2693" b="1" spc="-53">
                <a:solidFill>
                  <a:srgbClr val="315C5A"/>
                </a:solidFill>
                <a:latin typeface="Poppins Bold"/>
                <a:ea typeface="Poppins Bold"/>
                <a:cs typeface="Poppins Bold"/>
                <a:sym typeface="Poppins Bold"/>
              </a:rPr>
              <a:t>FÖRSTÅ HELHETEN</a:t>
            </a:r>
          </a:p>
          <a:p>
            <a:pPr algn="just">
              <a:lnSpc>
                <a:spcPts val="4362"/>
              </a:lnSpc>
            </a:pPr>
            <a:r>
              <a:rPr lang="en-US" sz="2693" spc="-53">
                <a:solidFill>
                  <a:srgbClr val="315C5A"/>
                </a:solidFill>
                <a:latin typeface="Poppins"/>
                <a:ea typeface="Poppins"/>
                <a:cs typeface="Poppins"/>
                <a:sym typeface="Poppins"/>
              </a:rPr>
              <a:t>Från data → färdig rapport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23928" y="7853490"/>
            <a:ext cx="9494249" cy="1094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62"/>
              </a:lnSpc>
            </a:pPr>
            <a:r>
              <a:rPr lang="en-US" sz="2693" b="1" spc="-53">
                <a:solidFill>
                  <a:srgbClr val="315C5A"/>
                </a:solidFill>
                <a:latin typeface="Poppins Bold"/>
                <a:ea typeface="Poppins Bold"/>
                <a:cs typeface="Poppins Bold"/>
                <a:sym typeface="Poppins Bold"/>
              </a:rPr>
              <a:t>NÄSTA STEG</a:t>
            </a:r>
          </a:p>
          <a:p>
            <a:pPr algn="just">
              <a:lnSpc>
                <a:spcPts val="4362"/>
              </a:lnSpc>
            </a:pPr>
            <a:r>
              <a:rPr lang="en-US" sz="2693" spc="-53">
                <a:solidFill>
                  <a:srgbClr val="315C5A"/>
                </a:solidFill>
                <a:latin typeface="Poppins"/>
                <a:ea typeface="Poppins"/>
                <a:cs typeface="Poppins"/>
                <a:sym typeface="Poppins"/>
              </a:rPr>
              <a:t>Automatisera ännu 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235</Words>
  <Application>Microsoft Office PowerPoint</Application>
  <PresentationFormat>Anpassad</PresentationFormat>
  <Paragraphs>72</Paragraphs>
  <Slides>5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6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5</vt:i4>
      </vt:variant>
    </vt:vector>
  </HeadingPairs>
  <TitlesOfParts>
    <vt:vector size="12" baseType="lpstr">
      <vt:lpstr>Calibri</vt:lpstr>
      <vt:lpstr>Aptos</vt:lpstr>
      <vt:lpstr>Poppins Bold</vt:lpstr>
      <vt:lpstr>Poppins Ultra-Bold</vt:lpstr>
      <vt:lpstr>Arial</vt:lpstr>
      <vt:lpstr>Poppins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Automatiserad rapportgenerering med Python</dc:title>
  <cp:lastModifiedBy>Magdalena Persson</cp:lastModifiedBy>
  <cp:revision>6</cp:revision>
  <dcterms:created xsi:type="dcterms:W3CDTF">2006-08-16T00:00:00Z</dcterms:created>
  <dcterms:modified xsi:type="dcterms:W3CDTF">2026-09-23T12:33:13Z</dcterms:modified>
  <dc:identifier>DAHV_1ZSu0o</dc:identifier>
</cp:coreProperties>
</file>